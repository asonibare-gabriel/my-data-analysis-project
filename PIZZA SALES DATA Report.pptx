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8" r:id="rId3"/>
    <p:sldId id="258" r:id="rId4"/>
    <p:sldId id="270" r:id="rId5"/>
    <p:sldId id="259" r:id="rId6"/>
    <p:sldId id="263" r:id="rId7"/>
    <p:sldId id="266" r:id="rId8"/>
    <p:sldId id="260" r:id="rId9"/>
    <p:sldId id="264" r:id="rId10"/>
    <p:sldId id="272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7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3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6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9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2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0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2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0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5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9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3275A67-FCA5-47A6-8DCA-0A7B2E6327B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12257FB-34EA-481D-B8B2-259AA3930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7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D79C-5EA8-3B2C-1A09-A3C1968FC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4097" y="1415845"/>
            <a:ext cx="8864961" cy="2521974"/>
          </a:xfrm>
        </p:spPr>
        <p:txBody>
          <a:bodyPr/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PIZZA SALES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7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0AA-5B2E-76DF-E633-B1662305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8CC5-177C-3EB0-3560-CC7D56D23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3519" y="2050026"/>
            <a:ext cx="8864961" cy="2374491"/>
          </a:xfrm>
        </p:spPr>
        <p:txBody>
          <a:bodyPr/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Performance Metrics (KPIs)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39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579C5EC5-A92C-75DE-92D8-20840E8CB8BD}"/>
              </a:ext>
            </a:extLst>
          </p:cNvPr>
          <p:cNvSpPr/>
          <p:nvPr/>
        </p:nvSpPr>
        <p:spPr>
          <a:xfrm flipH="1">
            <a:off x="8845654" y="1315084"/>
            <a:ext cx="2901131" cy="883909"/>
          </a:xfrm>
          <a:prstGeom prst="rightArrow">
            <a:avLst>
              <a:gd name="adj1" fmla="val 45696"/>
              <a:gd name="adj2" fmla="val 11340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Total Pizza Sold</a:t>
            </a: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F4239-D19D-DAA0-00F1-F16EB8CBE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45" y="1151372"/>
            <a:ext cx="2673408" cy="132931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EDCA2A6-E195-5F05-6FF2-D39F168753A5}"/>
              </a:ext>
            </a:extLst>
          </p:cNvPr>
          <p:cNvSpPr/>
          <p:nvPr/>
        </p:nvSpPr>
        <p:spPr>
          <a:xfrm>
            <a:off x="2445221" y="4763255"/>
            <a:ext cx="2729071" cy="883909"/>
          </a:xfrm>
          <a:prstGeom prst="rightArrow">
            <a:avLst>
              <a:gd name="adj1" fmla="val 45696"/>
              <a:gd name="adj2" fmla="val 110067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Avg Order Value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E66B39-97FE-4770-938A-17AC2E94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2" r="-1"/>
          <a:stretch>
            <a:fillRect/>
          </a:stretch>
        </p:blipFill>
        <p:spPr>
          <a:xfrm>
            <a:off x="3292273" y="2834070"/>
            <a:ext cx="2590796" cy="129880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83A1F51-51CD-3B46-927E-15BCEF269857}"/>
              </a:ext>
            </a:extLst>
          </p:cNvPr>
          <p:cNvSpPr/>
          <p:nvPr/>
        </p:nvSpPr>
        <p:spPr>
          <a:xfrm>
            <a:off x="558905" y="3067652"/>
            <a:ext cx="2684204" cy="883909"/>
          </a:xfrm>
          <a:prstGeom prst="rightArrow">
            <a:avLst>
              <a:gd name="adj1" fmla="val 45696"/>
              <a:gd name="adj2" fmla="val 10673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Total Order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B8D71-AD1A-8467-723F-61B5B8D37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833" y="4528184"/>
            <a:ext cx="2590796" cy="1331992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535D0A6-127B-BA80-F4BC-07254805FBCA}"/>
              </a:ext>
            </a:extLst>
          </p:cNvPr>
          <p:cNvSpPr/>
          <p:nvPr/>
        </p:nvSpPr>
        <p:spPr>
          <a:xfrm>
            <a:off x="544157" y="1388346"/>
            <a:ext cx="2684204" cy="883909"/>
          </a:xfrm>
          <a:prstGeom prst="rightArrow">
            <a:avLst>
              <a:gd name="adj1" fmla="val 45696"/>
              <a:gd name="adj2" fmla="val 110067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Total Revenue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115881-EC49-2C16-53AF-2854B078F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521" y="1180868"/>
            <a:ext cx="2507231" cy="1253615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E169786F-EDBF-B3C1-EA75-05320332045B}"/>
              </a:ext>
            </a:extLst>
          </p:cNvPr>
          <p:cNvSpPr/>
          <p:nvPr/>
        </p:nvSpPr>
        <p:spPr>
          <a:xfrm flipH="1">
            <a:off x="8904647" y="3039192"/>
            <a:ext cx="2901131" cy="883909"/>
          </a:xfrm>
          <a:prstGeom prst="rightArrow">
            <a:avLst>
              <a:gd name="adj1" fmla="val 45696"/>
              <a:gd name="adj2" fmla="val 10172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Avg Pizza Per Order</a:t>
            </a: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EAC021-B254-4F13-558B-E547A811D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521" y="2819322"/>
            <a:ext cx="2635102" cy="129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1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2DDC3-BD4A-AE43-1CFD-0DBD59E0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7773-C98A-8979-51A3-DCABE2DDF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755" y="840658"/>
            <a:ext cx="11518490" cy="2374491"/>
          </a:xfrm>
        </p:spPr>
        <p:txBody>
          <a:bodyPr/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SALES &amp; SEASONAL TREND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16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A4277-DCCA-F984-3369-EE2A17389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085" y="964510"/>
            <a:ext cx="7021858" cy="37661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The chart indicates </a:t>
            </a:r>
            <a:r>
              <a:rPr lang="en-US" b="1" dirty="0"/>
              <a:t>12hrs</a:t>
            </a:r>
            <a:r>
              <a:rPr lang="en-US" dirty="0"/>
              <a:t> as peak ordering hours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Average number of pizzas ordered per day?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EDE33-6EB6-647F-64AB-8594C17C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87" y="266635"/>
            <a:ext cx="3884579" cy="5574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76A8EE-94F0-5ED6-3D1C-4CBB3AB3F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40" b="13397"/>
          <a:stretch>
            <a:fillRect/>
          </a:stretch>
        </p:blipFill>
        <p:spPr>
          <a:xfrm>
            <a:off x="1024589" y="3780611"/>
            <a:ext cx="4300923" cy="150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2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57C48-BD42-2184-8BF1-A21645460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627" y="117988"/>
            <a:ext cx="10753725" cy="8996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The highest order was placed on </a:t>
            </a:r>
            <a:r>
              <a:rPr lang="en-US" b="1" dirty="0"/>
              <a:t>Fridays</a:t>
            </a:r>
            <a:r>
              <a:rPr lang="en-US" dirty="0"/>
              <a:t> which contribute to the revenue. The Month of </a:t>
            </a:r>
            <a:r>
              <a:rPr lang="en-US" b="1" dirty="0"/>
              <a:t>July</a:t>
            </a:r>
            <a:r>
              <a:rPr lang="en-US" dirty="0"/>
              <a:t> has the highest order which contributes to the revenue as well.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87240-6AAE-D965-6ACD-D73668E49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7" r="52536"/>
          <a:stretch>
            <a:fillRect/>
          </a:stretch>
        </p:blipFill>
        <p:spPr>
          <a:xfrm>
            <a:off x="702627" y="1681316"/>
            <a:ext cx="5196729" cy="3600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010E54-4364-AFB7-0F40-187D102C9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896" y="1546398"/>
            <a:ext cx="5353665" cy="3600789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5C75F0-A5F4-CEC6-1EA3-062106445E0C}"/>
              </a:ext>
            </a:extLst>
          </p:cNvPr>
          <p:cNvSpPr txBox="1">
            <a:spLocks/>
          </p:cNvSpPr>
          <p:nvPr/>
        </p:nvSpPr>
        <p:spPr>
          <a:xfrm>
            <a:off x="719137" y="5282105"/>
            <a:ext cx="10753725" cy="899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Peak Sales Times:</a:t>
            </a:r>
            <a:r>
              <a:rPr lang="en-US" dirty="0"/>
              <a:t> Orders are heavily concentrated From Thursday – Saturday during lunch hours (12PM - 1 PM).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861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6B7E-E53E-2EC8-1A95-46C64D5B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1708-AD70-1872-7569-4D9644F4C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910" y="2374490"/>
            <a:ext cx="8864961" cy="1224116"/>
          </a:xfrm>
        </p:spPr>
        <p:txBody>
          <a:bodyPr/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Product 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83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8424-615A-510E-7FFE-3D8E58252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62" y="865130"/>
            <a:ext cx="5438776" cy="1425893"/>
          </a:xfrm>
        </p:spPr>
        <p:txBody>
          <a:bodyPr>
            <a:normAutofit/>
          </a:bodyPr>
          <a:lstStyle/>
          <a:p>
            <a:r>
              <a:rPr lang="en-US" dirty="0"/>
              <a:t>1. Base on category-wise distribution of pizzas sold, </a:t>
            </a:r>
            <a:r>
              <a:rPr lang="en-US" b="1" dirty="0"/>
              <a:t>Classic</a:t>
            </a:r>
            <a:r>
              <a:rPr lang="en-US" dirty="0"/>
              <a:t> has </a:t>
            </a:r>
            <a:r>
              <a:rPr lang="en-US" b="1" dirty="0"/>
              <a:t>26.91%</a:t>
            </a:r>
            <a:r>
              <a:rPr lang="en-US" dirty="0"/>
              <a:t>, </a:t>
            </a:r>
            <a:r>
              <a:rPr lang="en-US" b="1" dirty="0"/>
              <a:t>Supreme</a:t>
            </a:r>
            <a:r>
              <a:rPr lang="en-US" dirty="0"/>
              <a:t> </a:t>
            </a:r>
            <a:r>
              <a:rPr lang="en-US" b="1" dirty="0"/>
              <a:t>25.46%</a:t>
            </a:r>
            <a:r>
              <a:rPr lang="en-US" dirty="0"/>
              <a:t>, </a:t>
            </a:r>
            <a:r>
              <a:rPr lang="en-US" b="1" dirty="0"/>
              <a:t>Chicken 23.96%, Veggie 23.68%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9BF16-B684-D20C-05FB-4696452E2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16" y="2468004"/>
            <a:ext cx="5207080" cy="253672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299F36-8306-91B1-FD9E-5BD4DF2D52B0}"/>
              </a:ext>
            </a:extLst>
          </p:cNvPr>
          <p:cNvSpPr txBox="1">
            <a:spLocks/>
          </p:cNvSpPr>
          <p:nvPr/>
        </p:nvSpPr>
        <p:spPr>
          <a:xfrm>
            <a:off x="6195020" y="865130"/>
            <a:ext cx="5570642" cy="1145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2. The most expensive pizza is </a:t>
            </a:r>
            <a:r>
              <a:rPr lang="en-US" b="1" dirty="0"/>
              <a:t>“The Greek Pizza”</a:t>
            </a:r>
            <a:r>
              <a:rPr lang="en-US" dirty="0"/>
              <a:t> whose price is </a:t>
            </a:r>
            <a:r>
              <a:rPr lang="en-US" b="1" dirty="0"/>
              <a:t>$35.95</a:t>
            </a:r>
            <a:r>
              <a:rPr lang="en-US" dirty="0"/>
              <a:t> per unit?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5DA48C-D1B6-06E3-A121-66F0C51AD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303" y="2291023"/>
            <a:ext cx="5192035" cy="271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1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561A-B4C3-4190-8761-22E7A4C9C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523419"/>
            <a:ext cx="5987845" cy="12859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3. Top 5 best-selling pizzas by number of orders include: </a:t>
            </a:r>
            <a:r>
              <a:rPr lang="en-US" b="1" dirty="0"/>
              <a:t>The Big Meat Pizza, The Thai Chicken Pizza, The Five cheese Pizza, The Four Cheese Pizza and the Classic Deluxe Pizza with 1.8k, 1.4k, 1.4k, 1.3k, 1.2k orders respectively.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EB3E6-414C-FF5C-338F-F41033EC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2" y="1998933"/>
            <a:ext cx="5087097" cy="370498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0232BE-9D59-5A84-F7A5-C467B15299A7}"/>
              </a:ext>
            </a:extLst>
          </p:cNvPr>
          <p:cNvSpPr txBox="1">
            <a:spLocks/>
          </p:cNvSpPr>
          <p:nvPr/>
        </p:nvSpPr>
        <p:spPr>
          <a:xfrm>
            <a:off x="6585845" y="523419"/>
            <a:ext cx="5606155" cy="9232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4. The Top 3 pizzas per category based on sales are Classic, Supreme and Chicken categories.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E94092-DB45-C782-220C-D297A2C4E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115" y="1994208"/>
            <a:ext cx="5047576" cy="368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57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79605E-F8F5-B0E7-A199-0887D5F4A9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8070" y="197312"/>
            <a:ext cx="10399762" cy="1587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5. The percentage of sales which come from each category include: 26.91% for Classic, 25.46% for supreme, 23.96 for Chicken, 23.68% for Veggie. While percentage of sales for size include 45.89% for Large, 30.49% for Medium, 21.77% for Small, 1.72% for Extra large, and 0.12% for </a:t>
            </a:r>
            <a:r>
              <a:rPr lang="en-US" dirty="0" err="1"/>
              <a:t>Extra_Extra</a:t>
            </a:r>
            <a:r>
              <a:rPr lang="en-US" dirty="0"/>
              <a:t> large.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46321-F93E-2EE3-F68B-1B81A5661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3" y="2345531"/>
            <a:ext cx="5290689" cy="3008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6EC1A1-4C98-C612-FD8F-F7F85E3F4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974" y="2345530"/>
            <a:ext cx="5290690" cy="30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73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F753-A86F-1441-1715-D138B236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754080"/>
          </a:xfrm>
        </p:spPr>
        <p:txBody>
          <a:bodyPr>
            <a:normAutofit fontScale="90000"/>
          </a:bodyPr>
          <a:lstStyle/>
          <a:p>
            <a:r>
              <a:rPr lang="en-US" dirty="0"/>
              <a:t>Key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6650-6EAB-8E66-BF27-195A20CB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101645"/>
            <a:ext cx="10753725" cy="2654710"/>
          </a:xfrm>
        </p:spPr>
        <p:txBody>
          <a:bodyPr>
            <a:normAutofit/>
          </a:bodyPr>
          <a:lstStyle/>
          <a:p>
            <a:r>
              <a:rPr lang="en-US" b="1" dirty="0"/>
              <a:t>Peak Sales </a:t>
            </a:r>
            <a:r>
              <a:rPr lang="en-US" b="1" dirty="0" err="1"/>
              <a:t>Times:</a:t>
            </a:r>
            <a:r>
              <a:rPr lang="en-US" dirty="0" err="1"/>
              <a:t>Orders</a:t>
            </a:r>
            <a:r>
              <a:rPr lang="en-US" dirty="0"/>
              <a:t> are heavily concentrated From Thursday – Saturday during lunch hours (12PM - 1 PM).</a:t>
            </a:r>
          </a:p>
          <a:p>
            <a:pPr lvl="0"/>
            <a:r>
              <a:rPr lang="en-US" b="1" dirty="0"/>
              <a:t>Bestselling Category:</a:t>
            </a:r>
            <a:r>
              <a:rPr lang="en-US" dirty="0"/>
              <a:t> The </a:t>
            </a:r>
            <a:r>
              <a:rPr lang="en-US" b="1" dirty="0"/>
              <a:t>Large</a:t>
            </a:r>
            <a:r>
              <a:rPr lang="en-US" dirty="0"/>
              <a:t> size is the most popular, contributing the most to total revenue. </a:t>
            </a:r>
            <a:r>
              <a:rPr lang="en-US" b="1" dirty="0"/>
              <a:t>The</a:t>
            </a:r>
            <a:r>
              <a:rPr lang="en-US" dirty="0"/>
              <a:t> </a:t>
            </a:r>
            <a:r>
              <a:rPr lang="en-US" b="1" dirty="0"/>
              <a:t>Big Meat</a:t>
            </a:r>
            <a:r>
              <a:rPr lang="en-US" dirty="0"/>
              <a:t> and </a:t>
            </a:r>
            <a:r>
              <a:rPr lang="en-US" b="1" dirty="0"/>
              <a:t>Thai Chicken</a:t>
            </a:r>
            <a:r>
              <a:rPr lang="en-US" dirty="0"/>
              <a:t> are the top-selling pizzas.</a:t>
            </a:r>
          </a:p>
          <a:p>
            <a:pPr lvl="0"/>
            <a:r>
              <a:rPr lang="en-US" b="1" dirty="0"/>
              <a:t>Revenue Insights:</a:t>
            </a:r>
            <a:r>
              <a:rPr lang="en-US" dirty="0"/>
              <a:t> A small number of pizza types (roughly 20%) generate the majority (around 80%) of the revenue, indicating a strong customer preference for core menu items.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772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B6E31-7D4D-74B7-53A6-9887BA8E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5438776" cy="827822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84200-4429-235D-19A1-77E8CC4A0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6065"/>
            <a:ext cx="10753725" cy="4468761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1. Optimize Staffing &amp; Operations:</a:t>
            </a:r>
            <a:r>
              <a:rPr lang="en-US" dirty="0"/>
              <a:t> Ensure you are fully staffed with your best crew during peak weekend and dinner rushes to maintain service speed and quality.</a:t>
            </a:r>
          </a:p>
          <a:p>
            <a:pPr lvl="0"/>
            <a:r>
              <a:rPr lang="en-US" b="1" dirty="0"/>
              <a:t>2. Strategic Promotions:</a:t>
            </a:r>
            <a:endParaRPr lang="en-US" dirty="0"/>
          </a:p>
          <a:p>
            <a:pPr lvl="1"/>
            <a:r>
              <a:rPr lang="en-US" b="1" dirty="0"/>
              <a:t>Upsell:</a:t>
            </a:r>
            <a:r>
              <a:rPr lang="en-US" dirty="0"/>
              <a:t> Create combo deals to encourage upselling from Medium to Extra Large pizzas.</a:t>
            </a:r>
          </a:p>
          <a:p>
            <a:pPr lvl="1"/>
            <a:r>
              <a:rPr lang="en-US" b="1" dirty="0"/>
              <a:t>Boost Off-Peak:</a:t>
            </a:r>
            <a:r>
              <a:rPr lang="en-US" dirty="0"/>
              <a:t> Offer "Happy Hour" or lunch specials on slower weekdays to increase traffic.</a:t>
            </a:r>
          </a:p>
          <a:p>
            <a:pPr lvl="0"/>
            <a:r>
              <a:rPr lang="en-US" b="1" dirty="0"/>
              <a:t>3. Menu &amp; Inventory Management:</a:t>
            </a:r>
            <a:endParaRPr lang="en-US" dirty="0"/>
          </a:p>
          <a:p>
            <a:pPr lvl="1"/>
            <a:r>
              <a:rPr lang="en-US" b="1" dirty="0"/>
              <a:t>Feature Winners:</a:t>
            </a:r>
            <a:r>
              <a:rPr lang="en-US" dirty="0"/>
              <a:t> Prominently feature the bestselling pizzas (The Bif Meat, The Thai Chicken, The five cheese) in marketing.</a:t>
            </a:r>
          </a:p>
          <a:p>
            <a:pPr lvl="1"/>
            <a:r>
              <a:rPr lang="en-US" b="1" dirty="0"/>
              <a:t>Evaluate Low Performers:</a:t>
            </a:r>
            <a:r>
              <a:rPr lang="en-US" dirty="0"/>
              <a:t> Consider removing the least-ordered pizzas to simplify operations and reduce inventory waste.</a:t>
            </a:r>
          </a:p>
        </p:txBody>
      </p:sp>
    </p:spTree>
    <p:extLst>
      <p:ext uri="{BB962C8B-B14F-4D97-AF65-F5344CB8AC3E}">
        <p14:creationId xmlns:p14="http://schemas.microsoft.com/office/powerpoint/2010/main" val="185719395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1364</TotalTime>
  <Words>482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Arial Rounded MT Bold</vt:lpstr>
      <vt:lpstr>Calibri Light</vt:lpstr>
      <vt:lpstr>Metropolitan</vt:lpstr>
      <vt:lpstr>PIZZA SALES DATA</vt:lpstr>
      <vt:lpstr>Performance Metrics (KPIs)</vt:lpstr>
      <vt:lpstr>PowerPoint Presentation</vt:lpstr>
      <vt:lpstr>SALES &amp; SEASONAL TREND</vt:lpstr>
      <vt:lpstr>PowerPoint Presentation</vt:lpstr>
      <vt:lpstr>PowerPoint Presentation</vt:lpstr>
      <vt:lpstr>Product Performance</vt:lpstr>
      <vt:lpstr>PowerPoint Presentation</vt:lpstr>
      <vt:lpstr>PowerPoint Presentation</vt:lpstr>
      <vt:lpstr>PowerPoint Presentation</vt:lpstr>
      <vt:lpstr>Key Findings 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asonibaregabriel2@gmail.com</dc:creator>
  <cp:lastModifiedBy>asonibaregabriel2@gmail.com</cp:lastModifiedBy>
  <cp:revision>27</cp:revision>
  <dcterms:created xsi:type="dcterms:W3CDTF">2025-11-15T21:07:22Z</dcterms:created>
  <dcterms:modified xsi:type="dcterms:W3CDTF">2025-11-16T22:39:16Z</dcterms:modified>
</cp:coreProperties>
</file>